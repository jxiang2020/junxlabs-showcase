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SHOWCASE DRAFT v4 — 2026-10-01 baseline.</a:t>
            </a:r>
          </a:p>
          <a:p>
            <a:r>
              <a:t>User direction: investment is the purpose; AI is a tool. Keep compelling subject matter but use factual, professional project language similar to Pillar 1.</a:t>
            </a:r>
          </a:p>
          <a:p>
            <a:r>
              <a:t>The owner’s Ph.D. research connection comes from the owner-provided project narrative; no specific dissertation findings or demonstrated alpha are asserted.</a:t>
            </a:r>
          </a:p>
          <a:p>
            <a:r>
              <a:t>Sources: https://github.com/JXiang2020/ai-trading-decision-system/blob/main/source/system/Personal_AI_Trading_Decision_System_Handoff_v0.3.md</a:t>
            </a:r>
          </a:p>
          <a:p>
            <a:r>
              <a:t>https://github.com/JXiang2020/ai-trading-decision-system/blob/main/README.md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Investment framework, not an implemented strategy or a trading recommendation. Mechanisms remain candidates unless validated. First pullback is an execution heuristic, not a universal required stage. Kelly depends on defensible probability/payoff assumptions; no position size is proposed.</a:t>
            </a:r>
          </a:p>
          <a:p>
            <a:r>
              <a:t>Sources: https://github.com/JXiang2020/ai-trading-decision-system/blob/main/source/system/Personal_AI_Trading_Decision_System_Handoff_v0.3.md</a:t>
            </a:r>
          </a:p>
          <a:p>
            <a:r>
              <a:t>https://github.com/JXiang2020/ai-trading-decision-system/blob/main/docs/architecture/AI_Trading_Decision_System_Architecture_v0.7_Knowledge_System_2026-09-30.md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 design, not eight deployed agents. Preserve all eight logical roles: Trading, Macro, Company &amp; Event, Technical, Regime, Market Expectations &amp; Pricing, Red-Team, Portfolio. Five library types are canonical categories, not separate services. Account data and active policies remain distinct from retrieved knowledge.</a:t>
            </a:r>
          </a:p>
          <a:p>
            <a:r>
              <a:t>Source: https://github.com/JXiang2020/ai-trading-decision-system/blob/main/docs/architecture/AI_Trading_Decision_System_Architecture_v0.7_Knowledge_System_2026-09-30.md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claims refer to the recorded T005-C pilot, not a new test run in this revision. The connector handoff read one account; it did not independently authenticate from local Python or execute trades. Data gaps remained; review output was insufficient_data and Kelly not_estimable. Detailed account values and identifiers are excluded. Wiki/RAG, model-backed roles, full portfolio analytics and validated investment advantage are not claimed as completed.</a:t>
            </a:r>
          </a:p>
          <a:p>
            <a:r>
              <a:t>Sources: https://github.com/JXiang2020/ai-trading-decision-system/blob/main/reports/T005C_Execution_Report.md</a:t>
            </a:r>
          </a:p>
          <a:p>
            <a:r>
              <a:t>https://github.com/JXiang2020/ai-trading-decision-system/blob/main/README.md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24765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Event-Driven Investment Decision</a:t>
            </a:r>
            <a:r>
              <a:rPr lang="en-US" sz="3050" b="1">
                <a:solidFill>
                  <a:srgbClr val="173959"/>
                </a:solidFill>
                <a:latin typeface="Arial" panose="020B0604020202020204"/>
              </a:rPr>
              <a:t>s with AI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6095" y="1466215"/>
            <a:ext cx="11165205" cy="594360"/>
          </a:xfrm>
          <a:prstGeom prst="rect">
            <a:avLst/>
          </a:prstGeom>
          <a:noFill/>
        </p:spPr>
        <p:txBody>
          <a:bodyPr wrap="square" lIns="18288" tIns="18288" rIns="18288" bIns="18288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This AI trading decision system identifies and evaluates event-driven investment opportunities.</a:t>
            </a:r>
            <a:r>
              <a:rPr lang="en-US" sz="1550" b="0">
                <a:solidFill>
                  <a:srgbClr val="0B2A4A"/>
                </a:solidFill>
                <a:latin typeface="Arial" panose="020B0604020202020204"/>
              </a:rPr>
              <a:t> </a:t>
            </a: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It uses live portfolio context, market evidence, and accumulated trading knowledge, with parts of the analytical framework drawn from my Ph.D.</a:t>
            </a:r>
            <a:r>
              <a:rPr lang="en-US" sz="1550" b="0">
                <a:solidFill>
                  <a:srgbClr val="0B2A4A"/>
                </a:solidFill>
                <a:latin typeface="Arial" panose="020B0604020202020204"/>
              </a:rPr>
              <a:t> </a:t>
            </a:r>
            <a:r>
              <a:rPr sz="1550" b="0">
                <a:solidFill>
                  <a:srgbClr val="0B2A4A"/>
                </a:solidFill>
                <a:latin typeface="Arial" panose="020B0604020202020204"/>
              </a:rPr>
              <a:t>dissertation.</a:t>
            </a:r>
            <a:endParaRPr sz="155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86410" y="2331720"/>
            <a:ext cx="6801485" cy="3657600"/>
          </a:xfrm>
          <a:prstGeom prst="roundRect">
            <a:avLst>
              <a:gd name="adj" fmla="val 5500"/>
            </a:avLst>
          </a:prstGeom>
          <a:solidFill>
            <a:srgbClr val="ECF6FE">
              <a:alpha val="25000"/>
            </a:srgbClr>
          </a:solidFill>
          <a:ln w="12700"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 13"/>
          <p:cNvSpPr/>
          <p:nvPr/>
        </p:nvSpPr>
        <p:spPr>
          <a:xfrm>
            <a:off x="673608" y="2611120"/>
            <a:ext cx="656539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Identify Potential Opportunities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815" y="2898775"/>
            <a:ext cx="6016625" cy="658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dirty="0"/>
              <a:t>Detect event-driven opportunities around earnings, FOMC decisions, company milestones, and other catalysts by analyzing expectation gaps, information diffusion, regime shifts and market repricing.</a:t>
            </a:r>
            <a:endParaRPr lang="en-US" alt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815" y="4043680"/>
            <a:ext cx="6015990" cy="658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Compare new evidence with what is already priced in, challenge the thesis, and define what would invalidate it.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638048" y="4717288"/>
            <a:ext cx="656539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Translate the View into a Portfolio Decision</a:t>
            </a:r>
            <a:endParaRPr lang="en-US" sz="1700" dirty="0"/>
          </a:p>
        </p:txBody>
      </p:sp>
      <p:sp>
        <p:nvSpPr>
          <p:cNvPr id="35" name="TextBox 34"/>
          <p:cNvSpPr txBox="1"/>
          <p:nvPr/>
        </p:nvSpPr>
        <p:spPr>
          <a:xfrm>
            <a:off x="638048" y="3766312"/>
            <a:ext cx="65653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73959"/>
                </a:solidFill>
                <a:latin typeface="Arial" panose="020B0604020202020204"/>
              </a:rPr>
              <a:t>Test Whether an Edge Remains</a:t>
            </a:r>
            <a:endParaRPr sz="17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2815" y="5005070"/>
            <a:ext cx="6030595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Choose whether and how to act—instrument, timing, size and hedge—within existing portfolio exposure and downside risk.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80960" y="2446934"/>
            <a:ext cx="4005072" cy="3291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7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</a:rPr>
              <a:t>Eight Specialized AI Agents</a:t>
            </a:r>
            <a:endParaRPr sz="1700" b="1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80960" y="2898648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Specialist Analysis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0" name="Agent tag - Macro"/>
          <p:cNvSpPr/>
          <p:nvPr/>
        </p:nvSpPr>
        <p:spPr>
          <a:xfrm>
            <a:off x="7680960" y="3246120"/>
            <a:ext cx="749808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1" name="Agent tag - Company &amp; Event"/>
          <p:cNvSpPr/>
          <p:nvPr/>
        </p:nvSpPr>
        <p:spPr>
          <a:xfrm>
            <a:off x="8513064" y="3246120"/>
            <a:ext cx="1688897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&amp; Event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2" name="Agent tag - Technical"/>
          <p:cNvSpPr/>
          <p:nvPr/>
        </p:nvSpPr>
        <p:spPr>
          <a:xfrm>
            <a:off x="10284257" y="3246120"/>
            <a:ext cx="997610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3" name="Agent tag - Regime"/>
          <p:cNvSpPr/>
          <p:nvPr/>
        </p:nvSpPr>
        <p:spPr>
          <a:xfrm>
            <a:off x="7680960" y="3648456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Regime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4" name="Agent tag - Market Expectations"/>
          <p:cNvSpPr/>
          <p:nvPr/>
        </p:nvSpPr>
        <p:spPr>
          <a:xfrm>
            <a:off x="8631936" y="3648456"/>
            <a:ext cx="1867205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Market Expectations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80960" y="4370832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Decision Integration &amp; Challenge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6" name="Agent tag - Trading"/>
          <p:cNvSpPr/>
          <p:nvPr/>
        </p:nvSpPr>
        <p:spPr>
          <a:xfrm>
            <a:off x="7680960" y="4736592"/>
            <a:ext cx="852221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Trading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7" name="Agent tag - Red-Team"/>
          <p:cNvSpPr/>
          <p:nvPr/>
        </p:nvSpPr>
        <p:spPr>
          <a:xfrm>
            <a:off x="8615477" y="4736592"/>
            <a:ext cx="1076249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Red-Team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80960" y="5330952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400" b="1">
                <a:solidFill>
                  <a:schemeClr val="tx1"/>
                </a:solidFill>
                <a:latin typeface="Arial" panose="020B0604020202020204"/>
              </a:rPr>
              <a:t>Portfolio Risk &amp; Trade Expression</a:t>
            </a:r>
            <a:endParaRPr sz="1400" b="1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9" name="Agent tag - Portfolio &amp; Kelly"/>
          <p:cNvSpPr/>
          <p:nvPr/>
        </p:nvSpPr>
        <p:spPr>
          <a:xfrm>
            <a:off x="7680960" y="5696712"/>
            <a:ext cx="1510589" cy="329184"/>
          </a:xfrm>
          <a:prstGeom prst="roundRect">
            <a:avLst>
              <a:gd name="adj" fmla="val 25000"/>
            </a:avLst>
          </a:prstGeom>
          <a:solidFill>
            <a:srgbClr val="E9ECEF">
              <a:alpha val="60000"/>
            </a:srgbClr>
          </a:solidFill>
          <a:ln w="0">
            <a:noFill/>
          </a:ln>
          <a:effectLst/>
        </p:spPr>
        <p:txBody>
          <a:bodyPr wrap="none" lIns="109728" tIns="13716" rIns="109728" bIns="13716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0B2A4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Portfolio &amp; Kelly</a:t>
            </a:r>
            <a:endParaRPr lang="en-US" sz="1400" b="0">
              <a:solidFill>
                <a:srgbClr val="0B2A4A"/>
              </a:solidFill>
              <a:latin typeface="Arial" panose="020B0604020202020204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7706360" y="2321560"/>
            <a:ext cx="2835275" cy="1016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18288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Investment Analysis and Portfolio Risk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21208" y="1527048"/>
            <a:ext cx="10972800" cy="576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Evaluate events relative to expectations, then assess the remaining opportunity and its portfolio implications.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1  Pre-event Context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676656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Expectations, positioning and price.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3145536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371393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45129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2  Event Outcome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3545129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Identify new facts and changes to the thesis.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6014009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39866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13602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3  Market Response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413602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Assess repricing, overreaction or no edge.</a:t>
            </a:r>
            <a:endParaRPr lang="en-US" sz="1480" dirty="0"/>
          </a:p>
        </p:txBody>
      </p:sp>
      <p:sp>
        <p:nvSpPr>
          <p:cNvPr id="27" name="Shape 25"/>
          <p:cNvSpPr/>
          <p:nvPr/>
        </p:nvSpPr>
        <p:spPr>
          <a:xfrm>
            <a:off x="8882482" y="2770632"/>
            <a:ext cx="161849" cy="0"/>
          </a:xfrm>
          <a:prstGeom prst="line">
            <a:avLst/>
          </a:prstGeom>
          <a:noFill/>
          <a:ln w="16510">
            <a:solidFill>
              <a:srgbClr val="245B8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08338" y="2203704"/>
            <a:ext cx="2578608" cy="1271016"/>
          </a:xfrm>
          <a:prstGeom prst="rect">
            <a:avLst/>
          </a:prstGeom>
          <a:solidFill>
            <a:srgbClr val="F7FAFD"/>
          </a:solidFill>
          <a:ln w="8255">
            <a:solidFill>
              <a:srgbClr val="E2EAF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282074" y="235000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3959"/>
                </a:solidFill>
                <a:latin typeface="Arial" panose="020B0604020202020204"/>
              </a:rPr>
              <a:t>4  Trade Assessment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9282074" y="2825496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Assess remaining edge and define invalidation.</a:t>
            </a:r>
            <a:endParaRPr lang="en-US" sz="1480" dirty="0"/>
          </a:p>
        </p:txBody>
      </p:sp>
      <p:sp>
        <p:nvSpPr>
          <p:cNvPr id="32" name="Shape 30"/>
          <p:cNvSpPr/>
          <p:nvPr/>
        </p:nvSpPr>
        <p:spPr>
          <a:xfrm>
            <a:off x="502920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Instrument and Timing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02920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stock, options, spreads and no action. Assess expiry, implied volatility, liquidity and price confirmation, including the first pullback.</a:t>
            </a:r>
            <a:endParaRPr lang="en-US" sz="1580" dirty="0"/>
          </a:p>
        </p:txBody>
      </p:sp>
      <p:sp>
        <p:nvSpPr>
          <p:cNvPr id="35" name="Shape 33"/>
          <p:cNvSpPr/>
          <p:nvPr/>
        </p:nvSpPr>
        <p:spPr>
          <a:xfrm>
            <a:off x="4325112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25112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Portfolio Risk and Sizing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325112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 shared exposures, leverage and downside scenarios. Apply Kelly only when probability and payoff assumptions are defensible.</a:t>
            </a:r>
            <a:endParaRPr lang="en-US" sz="1580" dirty="0"/>
          </a:p>
        </p:txBody>
      </p:sp>
      <p:sp>
        <p:nvSpPr>
          <p:cNvPr id="38" name="Shape 36"/>
          <p:cNvSpPr/>
          <p:nvPr/>
        </p:nvSpPr>
        <p:spPr>
          <a:xfrm>
            <a:off x="8147304" y="3858768"/>
            <a:ext cx="2651760" cy="0"/>
          </a:xfrm>
          <a:prstGeom prst="line">
            <a:avLst/>
          </a:prstGeom>
          <a:solidFill>
            <a:srgbClr val="D5DFE8"/>
          </a:solidFill>
          <a:ln w="27940">
            <a:noFill/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147304" y="403250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 Management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147304" y="4453128"/>
            <a:ext cx="3511296" cy="1042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038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Separate long-term and tactical positions. Reassess adds and exits as evidence changes; recent P/L alone does not justify more risk.</a:t>
            </a:r>
            <a:endParaRPr lang="en-US" sz="158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72600" y="228600"/>
            <a:ext cx="2331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3A59"/>
                </a:solidFill>
                <a:latin typeface="Arial" panose="020B0604020202020204"/>
              </a:rPr>
              <a:t>AI Trade Decision System</a:t>
            </a:r>
            <a:endParaRPr sz="110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6264" y="6519672"/>
            <a:ext cx="42062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E90"/>
                </a:solidFill>
                <a:latin typeface="Arial" panose="020B0604020202020204"/>
              </a:rPr>
              <a:t>3 / 4</a:t>
            </a:r>
            <a:endParaRPr sz="900" b="0">
              <a:solidFill>
                <a:srgbClr val="6B7E9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3A59"/>
                </a:solidFill>
                <a:latin typeface="Arial" panose="020B0604020202020204"/>
              </a:rPr>
              <a:t>AI System Architecture</a:t>
            </a:r>
            <a:endParaRPr sz="300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33576"/>
            <a:ext cx="111099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183A59"/>
                </a:solidFill>
                <a:latin typeface="Arial" panose="020B0604020202020204"/>
              </a:rPr>
              <a:t>Live context and source evidence feed the agents; </a:t>
            </a:r>
            <a:r>
              <a:rPr lang="en-US" sz="1360" b="0">
                <a:solidFill>
                  <a:srgbClr val="183A59"/>
                </a:solidFill>
                <a:latin typeface="Arial" panose="020B0604020202020204"/>
              </a:rPr>
              <a:t>investment</a:t>
            </a:r>
            <a:r>
              <a:rPr sz="1360" b="0">
                <a:solidFill>
                  <a:srgbClr val="183A59"/>
                </a:solidFill>
                <a:latin typeface="Arial" panose="020B0604020202020204"/>
              </a:rPr>
              <a:t> knowledge provides reusable cases, mechanisms and risk lessons.</a:t>
            </a:r>
            <a:endParaRPr sz="136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871216"/>
            <a:ext cx="2743200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CONTEXT &amp; SOURCE EVIDENCE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4912" y="2871216"/>
            <a:ext cx="6108192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SPECIALIZED AI AGENTS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07424" y="2871216"/>
            <a:ext cx="2596896" cy="2377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DECISION OUTPUT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264408"/>
            <a:ext cx="1993392" cy="292608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4912" y="3154680"/>
            <a:ext cx="6108192" cy="3145536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07424" y="3264408"/>
            <a:ext cx="2596896" cy="292608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493008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9359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Live Portfolio State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" y="3803904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Broker snapshot, cash, holdings, buying power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343400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43984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Market / Event Evidence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" y="4654296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Prices, filings, news and catalysts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5193792"/>
            <a:ext cx="1682496" cy="713232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1430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294376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3A59"/>
                </a:solidFill>
                <a:latin typeface="Arial" panose="020B0604020202020204"/>
              </a:rPr>
              <a:t>Source Evidence</a:t>
            </a:r>
            <a:endParaRPr sz="94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952" y="5504688"/>
            <a:ext cx="1481328" cy="3017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183A59"/>
                </a:solidFill>
                <a:latin typeface="Arial" panose="020B0604020202020204"/>
              </a:rPr>
              <a:t>Books, research, cases and personal records</a:t>
            </a:r>
            <a:endParaRPr sz="87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907792" y="3355848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8376" y="3429000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Macro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08376" y="36301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Assesses rates, liquidity, and cross-asset conditions.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88736" y="3355848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429000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Company &amp; Event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89320" y="363016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Evaluates fundamentals, catalysts, and event expectations.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907792" y="4069080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8376" y="4142232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Technical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8376" y="434340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Tests price structure, volume, levels, and retests.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888736" y="4069080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142232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Regime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Identifies shifts in pricing drivers and market sensitivity.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907792" y="4782312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8376" y="4855464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Market Expectations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08376" y="505663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Tests what price reflects and what may remain mispriced.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888736" y="4782312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4855464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Trading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89320" y="505663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Frames the decision and integrates competing evidence.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907792" y="5495544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08376" y="5568696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Red-Team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08376" y="576986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Challenges the thesis, weak evidence, and tail scenarios.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888736" y="5495544"/>
            <a:ext cx="2724912" cy="64008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5568696"/>
            <a:ext cx="2523744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3A59"/>
                </a:solidFill>
                <a:latin typeface="Arial" panose="020B0604020202020204"/>
              </a:rPr>
              <a:t>Portfolio &amp; Kelly Agent</a:t>
            </a:r>
            <a:endParaRPr sz="96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89320" y="5769864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83A59"/>
                </a:solidFill>
                <a:latin typeface="Arial" panose="020B0604020202020204"/>
              </a:rPr>
              <a:t>Evaluates exposure, sizing, scenarios, and portfolio impact.</a:t>
            </a:r>
            <a:endParaRPr sz="855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253728" y="3502152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3570732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Decision Path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54312" y="3700272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Research, watch, no edge or trade candidate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253728" y="4133088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4312" y="4201668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Trade Alternatives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54312" y="4407408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Stock, options, spreads or no action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253728" y="4764023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54312" y="4832604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Portfolio Implications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54312" y="5038343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Exposure, sizing and scenario risk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253728" y="5394960"/>
            <a:ext cx="2286000" cy="49377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10795">
            <a:solidFill>
              <a:srgbClr val="D1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54312" y="5463540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83A59"/>
                </a:solidFill>
                <a:latin typeface="Arial" panose="020B0604020202020204"/>
              </a:rPr>
              <a:t>Human Decision Record</a:t>
            </a:r>
            <a:endParaRPr sz="930" b="1">
              <a:solidFill>
                <a:srgbClr val="183A59"/>
              </a:solidFill>
              <a:latin typeface="Arial" panose="020B06040202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354312" y="5669280"/>
            <a:ext cx="2084831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83A59"/>
                </a:solidFill>
                <a:latin typeface="Arial" panose="020B0604020202020204"/>
              </a:rPr>
              <a:t>Action, rationale, outcome and review</a:t>
            </a:r>
            <a:endParaRPr sz="840" b="0">
              <a:solidFill>
                <a:srgbClr val="183A59"/>
              </a:solidFill>
              <a:latin typeface="Arial" panose="020B0604020202020204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578608" y="4727448"/>
            <a:ext cx="0" cy="0"/>
          </a:xfrm>
          <a:prstGeom prst="line">
            <a:avLst/>
          </a:prstGeom>
          <a:ln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505456" y="4562856"/>
            <a:ext cx="201168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8C"/>
                </a:solidFill>
                <a:latin typeface="Arial" panose="020B0604020202020204"/>
              </a:rPr>
              <a:t>→</a:t>
            </a:r>
            <a:endParaRPr sz="1600" b="1">
              <a:solidFill>
                <a:srgbClr val="155D8C"/>
              </a:solidFill>
              <a:latin typeface="Arial" panose="020B0604020202020204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8814816" y="4727448"/>
            <a:ext cx="0" cy="0"/>
          </a:xfrm>
          <a:prstGeom prst="line">
            <a:avLst/>
          </a:prstGeom>
          <a:ln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51392" y="4562856"/>
            <a:ext cx="201168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8C"/>
                </a:solidFill>
                <a:latin typeface="Arial" panose="020B0604020202020204"/>
              </a:rPr>
              <a:t>→</a:t>
            </a:r>
            <a:endParaRPr sz="16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02920" y="2048510"/>
            <a:ext cx="11200765" cy="694690"/>
          </a:xfrm>
          <a:prstGeom prst="roundRect">
            <a:avLst>
              <a:gd name="adj" fmla="val 5500"/>
            </a:avLst>
          </a:prstGeom>
          <a:solidFill>
            <a:srgbClr val="E2F0F8">
              <a:alpha val="25000"/>
            </a:srgbClr>
          </a:solidFill>
          <a:ln w="14604">
            <a:solidFill>
              <a:srgbClr val="BD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1739392"/>
            <a:ext cx="11201400" cy="2103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155D8C"/>
                </a:solidFill>
                <a:latin typeface="Arial" panose="020B0604020202020204"/>
              </a:rPr>
              <a:t>INVESTMENT</a:t>
            </a:r>
            <a:r>
              <a:rPr sz="1100" b="1">
                <a:solidFill>
                  <a:srgbClr val="155D8C"/>
                </a:solidFill>
                <a:latin typeface="Arial" panose="020B0604020202020204"/>
              </a:rPr>
              <a:t> KNOWLEDGE LAYER</a:t>
            </a:r>
            <a:endParaRPr sz="1100" b="1">
              <a:solidFill>
                <a:srgbClr val="155D8C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7385" y="2129790"/>
            <a:ext cx="108724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</a:rPr>
              <a:t>Five Libraries: 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</a:rPr>
              <a:t>  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Books, papers &amp; institutional research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 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Personal Cases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Opportunity Patterns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Execution Playbook </a:t>
            </a:r>
            <a:r>
              <a:rPr lang="en-US" sz="1200" b="0">
                <a:solidFill>
                  <a:srgbClr val="14314F"/>
                </a:solidFill>
                <a:latin typeface="Arial" panose="020B0604020202020204"/>
              </a:rPr>
              <a:t>|</a:t>
            </a:r>
            <a:r>
              <a:rPr sz="1200" b="0">
                <a:solidFill>
                  <a:srgbClr val="14314F"/>
                </a:solidFill>
                <a:latin typeface="Arial" panose="020B0604020202020204"/>
              </a:rPr>
              <a:t> Risk &amp; Failure Modes</a:t>
            </a: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RAG: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                </a:t>
            </a: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</a:t>
            </a:r>
            <a:r>
              <a:rPr sz="1200">
                <a:solidFill>
                  <a:srgbClr val="14314F"/>
                </a:solidFill>
                <a:latin typeface="Arial" panose="020B0604020202020204"/>
                <a:sym typeface="+mn-ea"/>
              </a:rPr>
              <a:t>Retrieves original source evidence, decision records and counterexamples.</a:t>
            </a:r>
            <a:endParaRPr sz="1200">
              <a:solidFill>
                <a:srgbClr val="14314F"/>
              </a:solidFill>
              <a:latin typeface="Arial" panose="020B0604020202020204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Wiki:</a:t>
            </a:r>
            <a:r>
              <a:rPr lang="en-US"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                </a:t>
            </a:r>
            <a:r>
              <a:rPr sz="1200" b="1">
                <a:solidFill>
                  <a:srgbClr val="14314F"/>
                </a:solidFill>
                <a:latin typeface="Arial" panose="020B0604020202020204"/>
                <a:sym typeface="+mn-ea"/>
              </a:rPr>
              <a:t> </a:t>
            </a:r>
            <a:r>
              <a:rPr sz="1200">
                <a:solidFill>
                  <a:srgbClr val="14314F"/>
                </a:solidFill>
                <a:latin typeface="Arial" panose="020B0604020202020204"/>
                <a:sym typeface="+mn-ea"/>
              </a:rPr>
              <a:t>Structures claims and relationships.</a:t>
            </a: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7512" y="2404872"/>
            <a:ext cx="1087221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14314F"/>
              </a:solidFill>
              <a:latin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09160" y="182880"/>
            <a:ext cx="697687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1150" b="0" dirty="0">
                <a:solidFill>
                  <a:srgbClr val="173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Trade Decision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65196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C70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850392"/>
            <a:ext cx="1110996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50" b="1">
                <a:solidFill>
                  <a:srgbClr val="173959"/>
                </a:solidFill>
                <a:latin typeface="Arial" panose="020B0604020202020204"/>
              </a:rPr>
              <a:t>Implementation Status and Next Steps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21208" y="1527048"/>
            <a:ext cx="10991088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An initial read-only account review path has been demonstrated; knowledge retrieval, specialist reasoning and portfolio analytics remain under development.</a:t>
            </a:r>
            <a:endParaRPr lang="en-US" sz="1730" dirty="0"/>
          </a:p>
        </p:txBody>
      </p:sp>
      <p:sp>
        <p:nvSpPr>
          <p:cNvPr id="32" name="Rectangle 31"/>
          <p:cNvSpPr/>
          <p:nvPr/>
        </p:nvSpPr>
        <p:spPr>
          <a:xfrm>
            <a:off x="502920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DEMONSTRATED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Read-only Review Pilot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Read-only brokerage connection; single-account portfolio snapshot; rule-based review pipeline.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Pilot output: insufficient data; Kelly not estimable; no trade execution.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06824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IN DEVELOPMENT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06824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Knowledge Retrieval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06824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Curate external sources and personal cases in the five-library Wiki/RAG design.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06824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Retrieve source evidence, counterexamples and decision records.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101583" y="2404872"/>
            <a:ext cx="3291840" cy="9144"/>
          </a:xfrm>
          <a:prstGeom prst="rect">
            <a:avLst/>
          </a:prstGeom>
          <a:solidFill>
            <a:srgbClr val="2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1583" y="2578608"/>
            <a:ext cx="31455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C7083"/>
                </a:solidFill>
                <a:latin typeface="Arial" panose="020B0604020202020204"/>
              </a:rPr>
              <a:t>IN DEVELOPMENT</a:t>
            </a:r>
            <a:endParaRPr sz="1000" b="1">
              <a:solidFill>
                <a:srgbClr val="5C7083"/>
              </a:solidFill>
              <a:latin typeface="Arial" panose="020B06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01583" y="3008376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3959"/>
                </a:solidFill>
                <a:latin typeface="Arial" panose="020B0604020202020204"/>
              </a:rPr>
              <a:t>Specialist Analysis</a:t>
            </a:r>
            <a:endParaRPr sz="1600" b="1">
              <a:solidFill>
                <a:srgbClr val="173959"/>
              </a:solidFill>
              <a:latin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101583" y="3483864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Implement model-backed agents and portfolio scenario comparisons.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1583" y="4425696"/>
            <a:ext cx="321868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0384F"/>
                </a:solidFill>
                <a:latin typeface="Arial" panose="020B0604020202020204"/>
              </a:rPr>
              <a:t>Evaluate usefulness through historical cases, prospective decisions and post-trade review.</a:t>
            </a:r>
            <a:endParaRPr sz="1400" b="0">
              <a:solidFill>
                <a:srgbClr val="20384F"/>
              </a:solidFill>
              <a:latin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9235"/>
            <a:ext cx="2410460" cy="398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4271</Words>
  <Application>WPS Presentation</Application>
  <PresentationFormat>On-screen Show (16:9)</PresentationFormat>
  <Paragraphs>198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Arial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JunXLabs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Trade Decision System — Investment and AI Architecture</dc:title>
  <dc:creator>Jun Xiang</dc:creator>
  <cp:keywords>JunXLabs, investment, event-driven, portfolio risk, AI decision support, draft</cp:keywords>
  <dc:subject>Public Showcase Draft v4 — professional narrative revision</dc:subject>
  <cp:lastModifiedBy>WPS_1782254693</cp:lastModifiedBy>
  <cp:revision>9</cp:revision>
  <dcterms:created xsi:type="dcterms:W3CDTF">2026-10-02T03:29:00Z</dcterms:created>
  <dcterms:modified xsi:type="dcterms:W3CDTF">2026-10-03T05:45:16Z</dcterms:modified>
  <cp:version>v5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F00028FD62294B25B4C38D9FEBBCA651_13</vt:lpwstr>
  </property>
</Properties>
</file>